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E77240-F6B6-458D-AF48-B12E8A6C557D}" v="9" dt="2026-05-27T10:41:19.3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247" autoAdjust="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Corpas" userId="d728030c-ebfc-4030-9964-bda2224e7cc1" providerId="ADAL" clId="{94DF2C0E-750F-45F4-A1AD-138F51860265}"/>
    <pc:docChg chg="undo custSel delSld modSld">
      <pc:chgData name="Daniel Corpas" userId="d728030c-ebfc-4030-9964-bda2224e7cc1" providerId="ADAL" clId="{94DF2C0E-750F-45F4-A1AD-138F51860265}" dt="2026-05-27T10:41:28.476" v="53" actId="20577"/>
      <pc:docMkLst>
        <pc:docMk/>
      </pc:docMkLst>
      <pc:sldChg chg="modSp mod">
        <pc:chgData name="Daniel Corpas" userId="d728030c-ebfc-4030-9964-bda2224e7cc1" providerId="ADAL" clId="{94DF2C0E-750F-45F4-A1AD-138F51860265}" dt="2026-05-27T10:36:37.066" v="1" actId="20577"/>
        <pc:sldMkLst>
          <pc:docMk/>
          <pc:sldMk cId="0" sldId="256"/>
        </pc:sldMkLst>
        <pc:spChg chg="mod">
          <ac:chgData name="Daniel Corpas" userId="d728030c-ebfc-4030-9964-bda2224e7cc1" providerId="ADAL" clId="{94DF2C0E-750F-45F4-A1AD-138F51860265}" dt="2026-05-27T10:36:37.066" v="1" actId="20577"/>
          <ac:spMkLst>
            <pc:docMk/>
            <pc:sldMk cId="0" sldId="256"/>
            <ac:spMk id="11" creationId="{00000000-0000-0000-0000-000000000000}"/>
          </ac:spMkLst>
        </pc:spChg>
      </pc:sldChg>
      <pc:sldChg chg="delSp modSp mod">
        <pc:chgData name="Daniel Corpas" userId="d728030c-ebfc-4030-9964-bda2224e7cc1" providerId="ADAL" clId="{94DF2C0E-750F-45F4-A1AD-138F51860265}" dt="2026-05-27T10:41:28.476" v="53" actId="20577"/>
        <pc:sldMkLst>
          <pc:docMk/>
          <pc:sldMk cId="0" sldId="257"/>
        </pc:sldMkLst>
        <pc:spChg chg="mod">
          <ac:chgData name="Daniel Corpas" userId="d728030c-ebfc-4030-9964-bda2224e7cc1" providerId="ADAL" clId="{94DF2C0E-750F-45F4-A1AD-138F51860265}" dt="2026-05-27T10:41:28.476" v="53" actId="20577"/>
          <ac:spMkLst>
            <pc:docMk/>
            <pc:sldMk cId="0" sldId="257"/>
            <ac:spMk id="7" creationId="{00000000-0000-0000-0000-000000000000}"/>
          </ac:spMkLst>
        </pc:spChg>
        <pc:spChg chg="del mod">
          <ac:chgData name="Daniel Corpas" userId="d728030c-ebfc-4030-9964-bda2224e7cc1" providerId="ADAL" clId="{94DF2C0E-750F-45F4-A1AD-138F51860265}" dt="2026-05-27T10:36:50.349" v="4" actId="478"/>
          <ac:spMkLst>
            <pc:docMk/>
            <pc:sldMk cId="0" sldId="257"/>
            <ac:spMk id="22" creationId="{3D631F16-F3AA-2939-0A3B-20CF5C0BF94A}"/>
          </ac:spMkLst>
        </pc:spChg>
        <pc:spChg chg="del">
          <ac:chgData name="Daniel Corpas" userId="d728030c-ebfc-4030-9964-bda2224e7cc1" providerId="ADAL" clId="{94DF2C0E-750F-45F4-A1AD-138F51860265}" dt="2026-05-27T10:36:54.211" v="7" actId="478"/>
          <ac:spMkLst>
            <pc:docMk/>
            <pc:sldMk cId="0" sldId="257"/>
            <ac:spMk id="23" creationId="{648F2930-A0CC-729E-9EE2-AD40A0B3D6DD}"/>
          </ac:spMkLst>
        </pc:spChg>
        <pc:spChg chg="del mod">
          <ac:chgData name="Daniel Corpas" userId="d728030c-ebfc-4030-9964-bda2224e7cc1" providerId="ADAL" clId="{94DF2C0E-750F-45F4-A1AD-138F51860265}" dt="2026-05-27T10:36:52.374" v="6" actId="478"/>
          <ac:spMkLst>
            <pc:docMk/>
            <pc:sldMk cId="0" sldId="257"/>
            <ac:spMk id="24" creationId="{C6BB77FB-0FB7-EF7F-5CA7-8D328D23A70F}"/>
          </ac:spMkLst>
        </pc:spChg>
        <pc:spChg chg="del">
          <ac:chgData name="Daniel Corpas" userId="d728030c-ebfc-4030-9964-bda2224e7cc1" providerId="ADAL" clId="{94DF2C0E-750F-45F4-A1AD-138F51860265}" dt="2026-05-27T10:36:55.797" v="8" actId="478"/>
          <ac:spMkLst>
            <pc:docMk/>
            <pc:sldMk cId="0" sldId="257"/>
            <ac:spMk id="25" creationId="{F60E18D4-41AE-C472-6ACC-2B14A40302CF}"/>
          </ac:spMkLst>
        </pc:spChg>
        <pc:spChg chg="del">
          <ac:chgData name="Daniel Corpas" userId="d728030c-ebfc-4030-9964-bda2224e7cc1" providerId="ADAL" clId="{94DF2C0E-750F-45F4-A1AD-138F51860265}" dt="2026-05-27T10:36:58.248" v="11" actId="478"/>
          <ac:spMkLst>
            <pc:docMk/>
            <pc:sldMk cId="0" sldId="257"/>
            <ac:spMk id="26" creationId="{DEDA3F62-B520-7167-884E-4D4159EDEA5C}"/>
          </ac:spMkLst>
        </pc:spChg>
        <pc:spChg chg="del mod">
          <ac:chgData name="Daniel Corpas" userId="d728030c-ebfc-4030-9964-bda2224e7cc1" providerId="ADAL" clId="{94DF2C0E-750F-45F4-A1AD-138F51860265}" dt="2026-05-27T10:36:57.118" v="10" actId="478"/>
          <ac:spMkLst>
            <pc:docMk/>
            <pc:sldMk cId="0" sldId="257"/>
            <ac:spMk id="27" creationId="{1897F576-F3AC-E10F-63C1-9A3FA61044C7}"/>
          </ac:spMkLst>
        </pc:spChg>
        <pc:spChg chg="del">
          <ac:chgData name="Daniel Corpas" userId="d728030c-ebfc-4030-9964-bda2224e7cc1" providerId="ADAL" clId="{94DF2C0E-750F-45F4-A1AD-138F51860265}" dt="2026-05-27T10:36:59.960" v="14" actId="478"/>
          <ac:spMkLst>
            <pc:docMk/>
            <pc:sldMk cId="0" sldId="257"/>
            <ac:spMk id="28" creationId="{D6DCD609-B76A-3237-C3FD-69F355EFF3A9}"/>
          </ac:spMkLst>
        </pc:spChg>
        <pc:spChg chg="del mod">
          <ac:chgData name="Daniel Corpas" userId="d728030c-ebfc-4030-9964-bda2224e7cc1" providerId="ADAL" clId="{94DF2C0E-750F-45F4-A1AD-138F51860265}" dt="2026-05-27T10:36:59.269" v="13" actId="478"/>
          <ac:spMkLst>
            <pc:docMk/>
            <pc:sldMk cId="0" sldId="257"/>
            <ac:spMk id="29" creationId="{0416689D-D1B1-51AF-AD06-DBE8AB62AE47}"/>
          </ac:spMkLst>
        </pc:spChg>
        <pc:spChg chg="del">
          <ac:chgData name="Daniel Corpas" userId="d728030c-ebfc-4030-9964-bda2224e7cc1" providerId="ADAL" clId="{94DF2C0E-750F-45F4-A1AD-138F51860265}" dt="2026-05-27T10:37:01.217" v="15" actId="478"/>
          <ac:spMkLst>
            <pc:docMk/>
            <pc:sldMk cId="0" sldId="257"/>
            <ac:spMk id="30" creationId="{3C28F5C3-28DA-8631-5E3C-591DF0B2AD58}"/>
          </ac:spMkLst>
        </pc:spChg>
      </pc:sldChg>
      <pc:sldChg chg="del">
        <pc:chgData name="Daniel Corpas" userId="d728030c-ebfc-4030-9964-bda2224e7cc1" providerId="ADAL" clId="{94DF2C0E-750F-45F4-A1AD-138F51860265}" dt="2026-05-27T10:37:33.190" v="16" actId="47"/>
        <pc:sldMkLst>
          <pc:docMk/>
          <pc:sldMk cId="0" sldId="261"/>
        </pc:sldMkLst>
      </pc:sldChg>
      <pc:sldChg chg="addSp modSp mod">
        <pc:chgData name="Daniel Corpas" userId="d728030c-ebfc-4030-9964-bda2224e7cc1" providerId="ADAL" clId="{94DF2C0E-750F-45F4-A1AD-138F51860265}" dt="2026-05-27T10:40:46.804" v="46" actId="1076"/>
        <pc:sldMkLst>
          <pc:docMk/>
          <pc:sldMk cId="0" sldId="263"/>
        </pc:sldMkLst>
        <pc:spChg chg="mod">
          <ac:chgData name="Daniel Corpas" userId="d728030c-ebfc-4030-9964-bda2224e7cc1" providerId="ADAL" clId="{94DF2C0E-750F-45F4-A1AD-138F51860265}" dt="2026-05-27T10:40:36.627" v="45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Daniel Corpas" userId="d728030c-ebfc-4030-9964-bda2224e7cc1" providerId="ADAL" clId="{94DF2C0E-750F-45F4-A1AD-138F51860265}" dt="2026-05-27T10:39:32.486" v="33" actId="20577"/>
          <ac:spMkLst>
            <pc:docMk/>
            <pc:sldMk cId="0" sldId="263"/>
            <ac:spMk id="8" creationId="{00000000-0000-0000-0000-000000000000}"/>
          </ac:spMkLst>
        </pc:spChg>
        <pc:spChg chg="add mod">
          <ac:chgData name="Daniel Corpas" userId="d728030c-ebfc-4030-9964-bda2224e7cc1" providerId="ADAL" clId="{94DF2C0E-750F-45F4-A1AD-138F51860265}" dt="2026-05-27T10:40:46.804" v="46" actId="1076"/>
          <ac:spMkLst>
            <pc:docMk/>
            <pc:sldMk cId="0" sldId="263"/>
            <ac:spMk id="11" creationId="{3815F522-8277-FD4B-E4AE-61486A66CF5C}"/>
          </ac:spMkLst>
        </pc:spChg>
        <pc:picChg chg="mod">
          <ac:chgData name="Daniel Corpas" userId="d728030c-ebfc-4030-9964-bda2224e7cc1" providerId="ADAL" clId="{94DF2C0E-750F-45F4-A1AD-138F51860265}" dt="2026-05-27T10:39:58.780" v="40" actId="1076"/>
          <ac:picMkLst>
            <pc:docMk/>
            <pc:sldMk cId="0" sldId="263"/>
            <ac:picMk id="9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7154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entro-formacion-robotica.netlify.app/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3840480" y="0"/>
            <a:ext cx="53035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4754880" y="0"/>
            <a:ext cx="1097280" cy="5143500"/>
          </a:xfrm>
          <a:prstGeom prst="rect">
            <a:avLst/>
          </a:prstGeom>
          <a:solidFill>
            <a:srgbClr val="1A3A5C">
              <a:alpha val="55000"/>
            </a:srgbClr>
          </a:solidFill>
          <a:ln w="12700">
            <a:solidFill>
              <a:srgbClr val="1A3A5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56032"/>
            <a:ext cx="890733" cy="658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3040" y="29946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b="1" kern="0" spc="250" dirty="0">
              <a:solidFill>
                <a:srgbClr val="FFFFFF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r>
              <a:rPr lang="en-US" sz="850" b="1" kern="0" spc="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CENTRO</a:t>
            </a:r>
            <a:endParaRPr lang="en-US" sz="850" dirty="0"/>
          </a:p>
          <a:p>
            <a:pPr marL="0" indent="0">
              <a:buNone/>
            </a:pPr>
            <a:r>
              <a:rPr lang="en-US" sz="850" b="1" kern="0" spc="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FORMACIÓN</a:t>
            </a:r>
            <a:endParaRPr lang="en-US" sz="850" dirty="0"/>
          </a:p>
          <a:p>
            <a:pPr marL="0" indent="0">
              <a:buNone/>
            </a:pPr>
            <a:r>
              <a:rPr lang="en-US" sz="850" b="1" kern="0" spc="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ROBÓTICA</a:t>
            </a:r>
            <a:endParaRPr lang="en-US" sz="850" dirty="0"/>
          </a:p>
        </p:txBody>
      </p:sp>
      <p:sp>
        <p:nvSpPr>
          <p:cNvPr id="7" name="Shape 3"/>
          <p:cNvSpPr/>
          <p:nvPr/>
        </p:nvSpPr>
        <p:spPr>
          <a:xfrm>
            <a:off x="457200" y="1481328"/>
            <a:ext cx="2377440" cy="20117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4"/>
          <p:cNvSpPr/>
          <p:nvPr/>
        </p:nvSpPr>
        <p:spPr>
          <a:xfrm>
            <a:off x="457200" y="12070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8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 ROBÓTICA · PROYECTO EN LANZAMIENTO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457200" y="1627632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 a los cirujanos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</a:t>
            </a:r>
            <a:r>
              <a:rPr lang="en-US" sz="38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</a:t>
            </a: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800" b="1" kern="0" spc="200" dirty="0" err="1">
                <a:solidFill>
                  <a:srgbClr val="85C8E8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futuro</a:t>
            </a:r>
            <a:r>
              <a:rPr lang="en-US" sz="3800" b="1" kern="0" spc="200" dirty="0">
                <a:solidFill>
                  <a:srgbClr val="85C8E8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10" name="Text 6"/>
          <p:cNvSpPr/>
          <p:nvPr/>
        </p:nvSpPr>
        <p:spPr>
          <a:xfrm>
            <a:off x="457200" y="345643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referencia en formación para cirugía robótica 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laparoscópica. Programas acreditados, simuladores de última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y tutorización por cirujanos expertos.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46817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</a:t>
            </a:r>
            <a:r>
              <a:rPr lang="en-US" sz="900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2027</a:t>
            </a:r>
            <a:endParaRPr lang="en-US" sz="900" dirty="0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7762168C-4C7B-BFB1-3BBD-D1EE809B1CC6}"/>
              </a:ext>
            </a:extLst>
          </p:cNvPr>
          <p:cNvCxnSpPr>
            <a:cxnSpLocks/>
          </p:cNvCxnSpPr>
          <p:nvPr/>
        </p:nvCxnSpPr>
        <p:spPr>
          <a:xfrm>
            <a:off x="1371600" y="441325"/>
            <a:ext cx="0" cy="36195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7DAF1B0B-0793-6FAD-4756-2F98B9A3D6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77" r="10344"/>
          <a:stretch>
            <a:fillRect/>
          </a:stretch>
        </p:blipFill>
        <p:spPr>
          <a:xfrm>
            <a:off x="4802770" y="1134341"/>
            <a:ext cx="4341230" cy="2874817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64592"/>
            <a:ext cx="59382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011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CENTRO</a:t>
            </a:r>
            <a:endParaRPr lang="en-US" sz="850" dirty="0"/>
          </a:p>
          <a:p>
            <a:pPr marL="0" indent="0">
              <a:buNone/>
            </a:pPr>
            <a:r>
              <a:rPr lang="en-US" sz="850" b="1" kern="0" spc="25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FORMACIÓN</a:t>
            </a:r>
            <a:endParaRPr lang="en-US" sz="850" dirty="0"/>
          </a:p>
          <a:p>
            <a:pPr marL="0" indent="0">
              <a:buNone/>
            </a:pPr>
            <a:r>
              <a:rPr lang="en-US" sz="850" b="1" kern="0" spc="25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ROBÓTICA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65760" y="777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0" dirty="0">
                <a:solidFill>
                  <a:srgbClr val="3A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QUIÉNES SOMOS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365760" y="100584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Centro de referencia</a:t>
            </a:r>
            <a:endParaRPr lang="en-US" sz="2900" dirty="0"/>
          </a:p>
          <a:p>
            <a:pPr marL="0" indent="0">
              <a:buNone/>
            </a:pPr>
            <a:r>
              <a:rPr lang="en-US" sz="29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formación quirúrgica.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365760" y="2418588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construyendo el centro especializado en formación para cirugía robótica de España. Un proyecto diseñado desde dentro de los quirófanos, por y para cirujanos, con el objetivo de formar a los mejores profesionales del país.</a:t>
            </a:r>
            <a:endParaRPr lang="en-US" sz="1150" dirty="0">
              <a:solidFill>
                <a:srgbClr val="3344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938528" y="378561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511296" y="378561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3511296" y="427939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850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CCF2AE9C-B55D-F141-BAB9-02CDCAC72B99}"/>
              </a:ext>
            </a:extLst>
          </p:cNvPr>
          <p:cNvCxnSpPr>
            <a:cxnSpLocks/>
          </p:cNvCxnSpPr>
          <p:nvPr/>
        </p:nvCxnSpPr>
        <p:spPr>
          <a:xfrm>
            <a:off x="911224" y="217837"/>
            <a:ext cx="0" cy="36195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519594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17373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CENTRO</a:t>
            </a:r>
            <a:endParaRPr lang="en-US" sz="850" dirty="0"/>
          </a:p>
          <a:p>
            <a:pPr marL="0" indent="0">
              <a:buNone/>
            </a:pPr>
            <a:r>
              <a:rPr lang="en-US" sz="850" b="1" kern="0" spc="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FORMACIÓN</a:t>
            </a:r>
            <a:endParaRPr lang="en-US" sz="850" dirty="0"/>
          </a:p>
          <a:p>
            <a:pPr marL="0" indent="0">
              <a:buNone/>
            </a:pPr>
            <a:r>
              <a:rPr lang="en-US" sz="850" b="1" kern="0" spc="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ROBÓTICA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457200" y="7132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0" dirty="0">
                <a:solidFill>
                  <a:srgbClr val="8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 FORMATIVOS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Programas en desarrollo.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1737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definiendo los programas junto a cirujanos expertos. Si tienes interés en un área concreta, indícalo al apuntarte a la lista de espera.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267712"/>
            <a:ext cx="3977640" cy="1261872"/>
          </a:xfrm>
          <a:prstGeom prst="rect">
            <a:avLst/>
          </a:prstGeom>
          <a:solidFill>
            <a:srgbClr val="2A5A8C">
              <a:alpha val="50000"/>
            </a:srgbClr>
          </a:solidFill>
          <a:ln w="12700">
            <a:solidFill>
              <a:srgbClr val="3A6FA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457200" y="2267712"/>
            <a:ext cx="50292" cy="1261872"/>
          </a:xfrm>
          <a:prstGeom prst="rect">
            <a:avLst/>
          </a:prstGeom>
          <a:solidFill>
            <a:srgbClr val="85C8E8"/>
          </a:solidFill>
          <a:ln w="12700">
            <a:solidFill>
              <a:srgbClr val="85C8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621792" y="2359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Formación básica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1792" y="26517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inicial · Próximamente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1792" y="2852928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al sistema da Vinci. Para cirujanos que quieren incorporarse al mundo de la cirugía robótica.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800600" y="2267712"/>
            <a:ext cx="3977640" cy="1261872"/>
          </a:xfrm>
          <a:prstGeom prst="rect">
            <a:avLst/>
          </a:prstGeom>
          <a:solidFill>
            <a:srgbClr val="2A5A8C">
              <a:alpha val="50000"/>
            </a:srgbClr>
          </a:solidFill>
          <a:ln w="12700">
            <a:solidFill>
              <a:srgbClr val="3A6FA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4800600" y="2267712"/>
            <a:ext cx="50292" cy="1261872"/>
          </a:xfrm>
          <a:prstGeom prst="rect">
            <a:avLst/>
          </a:prstGeom>
          <a:solidFill>
            <a:srgbClr val="85C8E8"/>
          </a:solidFill>
          <a:ln w="12700">
            <a:solidFill>
              <a:srgbClr val="85C8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4965192" y="2359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Formación avanzada por especialidad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65192" y="26517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avanzado · Próximamente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965192" y="2852928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 específicos por área quirúrgica con práctica real en simuladores y modelo experimental.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57200" y="3639312"/>
            <a:ext cx="3977640" cy="1261872"/>
          </a:xfrm>
          <a:prstGeom prst="rect">
            <a:avLst/>
          </a:prstGeom>
          <a:solidFill>
            <a:srgbClr val="2A5A8C">
              <a:alpha val="50000"/>
            </a:srgbClr>
          </a:solidFill>
          <a:ln w="12700">
            <a:solidFill>
              <a:srgbClr val="3A6FA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457200" y="3639312"/>
            <a:ext cx="50292" cy="1261872"/>
          </a:xfrm>
          <a:prstGeom prst="rect">
            <a:avLst/>
          </a:prstGeom>
          <a:solidFill>
            <a:srgbClr val="85C8E8"/>
          </a:solidFill>
          <a:ln w="12700">
            <a:solidFill>
              <a:srgbClr val="85C8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621792" y="3730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 integral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21792" y="40233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completo · Próximamente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21792" y="4224528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multiespecialidad, gestión de unidad robótica y red de centros colaboradores.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800600" y="3639312"/>
            <a:ext cx="3977640" cy="1261872"/>
          </a:xfrm>
          <a:prstGeom prst="rect">
            <a:avLst/>
          </a:prstGeom>
          <a:solidFill>
            <a:srgbClr val="2A5A8C">
              <a:alpha val="50000"/>
            </a:srgbClr>
          </a:solidFill>
          <a:ln w="12700">
            <a:solidFill>
              <a:srgbClr val="3A6FA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0"/>
          <p:cNvSpPr/>
          <p:nvPr/>
        </p:nvSpPr>
        <p:spPr>
          <a:xfrm>
            <a:off x="4800600" y="3639312"/>
            <a:ext cx="50292" cy="1261872"/>
          </a:xfrm>
          <a:prstGeom prst="rect">
            <a:avLst/>
          </a:prstGeom>
          <a:solidFill>
            <a:srgbClr val="85C8E8"/>
          </a:solidFill>
          <a:ln w="12700">
            <a:solidFill>
              <a:srgbClr val="85C8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4965192" y="3730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Lab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965192" y="40233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 · Próximamente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965192" y="4224528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en simuladores de alta fidelidad con métricas objetivas de progreso.</a:t>
            </a:r>
            <a:endParaRPr lang="en-US" sz="950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5E8013CD-CA35-1664-6F38-B9F896308305}"/>
              </a:ext>
            </a:extLst>
          </p:cNvPr>
          <p:cNvCxnSpPr>
            <a:cxnSpLocks/>
          </p:cNvCxnSpPr>
          <p:nvPr/>
        </p:nvCxnSpPr>
        <p:spPr>
          <a:xfrm>
            <a:off x="882650" y="173736"/>
            <a:ext cx="0" cy="36195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556708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2011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CENTRO</a:t>
            </a:r>
            <a:endParaRPr lang="en-US" sz="850" dirty="0"/>
          </a:p>
          <a:p>
            <a:pPr marL="0" indent="0">
              <a:buNone/>
            </a:pPr>
            <a:r>
              <a:rPr lang="en-US" sz="850" b="1" kern="0" spc="25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FORMACIÓN</a:t>
            </a:r>
            <a:endParaRPr lang="en-US" sz="850" dirty="0"/>
          </a:p>
          <a:p>
            <a:pPr marL="0" indent="0">
              <a:buNone/>
            </a:pPr>
            <a:r>
              <a:rPr lang="en-US" sz="850" b="1" kern="0" spc="25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ROBÓTICA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0" dirty="0">
                <a:solidFill>
                  <a:srgbClr val="3A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ELEGIRNOS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365760" y="10058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Ventajas diferenciales.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365760" y="180136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90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86968" y="1828800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Equipo docente experto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86968" y="209397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Cirujanos con más de 200 procedimientos robóticos y reconocimiento internacional.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65760" y="2743200"/>
            <a:ext cx="3977640" cy="9144"/>
          </a:xfrm>
          <a:prstGeom prst="rect">
            <a:avLst/>
          </a:prstGeom>
          <a:solidFill>
            <a:srgbClr val="4A90C4">
              <a:alpha val="35000"/>
            </a:srgbClr>
          </a:solidFill>
          <a:ln w="12700">
            <a:solidFill>
              <a:srgbClr val="4A90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4709160" y="180136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90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230368" y="1828800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Tecnología de última generación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230368" y="209397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da Vinci Xi y simuladores de alta fidelidad para entrenamiento sin riesgos.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09160" y="2743200"/>
            <a:ext cx="3977640" cy="9144"/>
          </a:xfrm>
          <a:prstGeom prst="rect">
            <a:avLst/>
          </a:prstGeom>
          <a:solidFill>
            <a:srgbClr val="4A90C4">
              <a:alpha val="35000"/>
            </a:srgbClr>
          </a:solidFill>
          <a:ln w="12700">
            <a:solidFill>
              <a:srgbClr val="4A90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365760" y="288036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90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86968" y="2907792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Programas acreditados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86968" y="317296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Homologación por sociedades científicas nacionales e internacionales.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65760" y="3822192"/>
            <a:ext cx="3977640" cy="9144"/>
          </a:xfrm>
          <a:prstGeom prst="rect">
            <a:avLst/>
          </a:prstGeom>
          <a:solidFill>
            <a:srgbClr val="4A90C4">
              <a:alpha val="35000"/>
            </a:srgbClr>
          </a:solidFill>
          <a:ln w="12700">
            <a:solidFill>
              <a:srgbClr val="4A90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4709160" y="288036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90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230368" y="2907792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Ratio tutor-alumno reducido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230368" y="317296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6 alumnos por instructor para garantizar atención personalizada.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709160" y="3822192"/>
            <a:ext cx="3977640" cy="9144"/>
          </a:xfrm>
          <a:prstGeom prst="rect">
            <a:avLst/>
          </a:prstGeom>
          <a:solidFill>
            <a:srgbClr val="4A90C4">
              <a:alpha val="35000"/>
            </a:srgbClr>
          </a:solidFill>
          <a:ln w="12700">
            <a:solidFill>
              <a:srgbClr val="4A90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365760" y="395935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90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86968" y="3986784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Bolsa de prácticas clínicas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86968" y="42519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centros hospitalarios colaboradores para consolidar habilidades reales.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65760" y="4901184"/>
            <a:ext cx="3977640" cy="9144"/>
          </a:xfrm>
          <a:prstGeom prst="rect">
            <a:avLst/>
          </a:prstGeom>
          <a:solidFill>
            <a:srgbClr val="4A90C4">
              <a:alpha val="35000"/>
            </a:srgbClr>
          </a:solidFill>
          <a:ln w="12700">
            <a:solidFill>
              <a:srgbClr val="4A90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/>
          <p:nvPr/>
        </p:nvSpPr>
        <p:spPr>
          <a:xfrm>
            <a:off x="4709160" y="395935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90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5230368" y="3986784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Presencia internacional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230368" y="42519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activa en 6 países europeos y latinoamericanos.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709160" y="4901184"/>
            <a:ext cx="3977640" cy="9144"/>
          </a:xfrm>
          <a:prstGeom prst="rect">
            <a:avLst/>
          </a:prstGeom>
          <a:solidFill>
            <a:srgbClr val="4A90C4">
              <a:alpha val="35000"/>
            </a:srgbClr>
          </a:solidFill>
          <a:ln w="12700">
            <a:solidFill>
              <a:srgbClr val="4A90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1BAB3A0F-9D3C-E5A1-224E-712D0651B216}"/>
              </a:ext>
            </a:extLst>
          </p:cNvPr>
          <p:cNvCxnSpPr>
            <a:cxnSpLocks/>
          </p:cNvCxnSpPr>
          <p:nvPr/>
        </p:nvCxnSpPr>
        <p:spPr>
          <a:xfrm>
            <a:off x="911224" y="217837"/>
            <a:ext cx="0" cy="36195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519594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6787" y="1671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CENTRO</a:t>
            </a:r>
            <a:endParaRPr lang="en-US" sz="850" dirty="0"/>
          </a:p>
          <a:p>
            <a:pPr marL="0" indent="0">
              <a:buNone/>
            </a:pPr>
            <a:r>
              <a:rPr lang="en-US" sz="850" b="1" kern="0" spc="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FORMACIÓN</a:t>
            </a:r>
            <a:endParaRPr lang="en-US" sz="850" dirty="0"/>
          </a:p>
          <a:p>
            <a:pPr marL="0" indent="0">
              <a:buNone/>
            </a:pPr>
            <a:r>
              <a:rPr lang="en-US" sz="850" b="1" kern="0" spc="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ROBÓTICA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457200" y="7132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0" dirty="0">
                <a:solidFill>
                  <a:srgbClr val="8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formamos a los mejores.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1920240" cy="2560320"/>
          </a:xfrm>
          <a:prstGeom prst="rect">
            <a:avLst/>
          </a:prstGeom>
          <a:solidFill>
            <a:srgbClr val="1E4A7A"/>
          </a:solidFill>
          <a:ln w="12700">
            <a:solidFill>
              <a:srgbClr val="3A6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1143000" y="1938528"/>
            <a:ext cx="548640" cy="548640"/>
          </a:xfrm>
          <a:prstGeom prst="ellipse">
            <a:avLst/>
          </a:prstGeom>
          <a:solidFill>
            <a:srgbClr val="85C8E8"/>
          </a:solidFill>
          <a:ln w="12700">
            <a:solidFill>
              <a:srgbClr val="85C8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1143000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2606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Evaluación inicial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3035808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de habilidades técnicas y definición de objetivos formativos personalizados.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395728" y="3017520"/>
            <a:ext cx="182880" cy="20117"/>
          </a:xfrm>
          <a:prstGeom prst="rect">
            <a:avLst/>
          </a:prstGeom>
          <a:solidFill>
            <a:srgbClr val="85C8E8"/>
          </a:solidFill>
          <a:ln w="12700">
            <a:solidFill>
              <a:srgbClr val="85C8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2542032" y="29260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606040" y="1828800"/>
            <a:ext cx="1920240" cy="2560320"/>
          </a:xfrm>
          <a:prstGeom prst="rect">
            <a:avLst/>
          </a:prstGeom>
          <a:solidFill>
            <a:srgbClr val="1E4A7A"/>
          </a:solidFill>
          <a:ln w="12700">
            <a:solidFill>
              <a:srgbClr val="3A6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3291840" y="1938528"/>
            <a:ext cx="548640" cy="548640"/>
          </a:xfrm>
          <a:prstGeom prst="ellipse">
            <a:avLst/>
          </a:prstGeom>
          <a:solidFill>
            <a:srgbClr val="85C8E8"/>
          </a:solidFill>
          <a:ln w="12700">
            <a:solidFill>
              <a:srgbClr val="85C8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3291840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697480" y="2606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Formación teórica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697480" y="3035808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online y presenciales con los últimos avances en robótica quirúrgica.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44568" y="3017520"/>
            <a:ext cx="182880" cy="20117"/>
          </a:xfrm>
          <a:prstGeom prst="rect">
            <a:avLst/>
          </a:prstGeom>
          <a:solidFill>
            <a:srgbClr val="85C8E8"/>
          </a:solidFill>
          <a:ln w="12700">
            <a:solidFill>
              <a:srgbClr val="85C8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4690872" y="29260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754880" y="1828800"/>
            <a:ext cx="1920240" cy="2560320"/>
          </a:xfrm>
          <a:prstGeom prst="rect">
            <a:avLst/>
          </a:prstGeom>
          <a:solidFill>
            <a:srgbClr val="1E4A7A"/>
          </a:solidFill>
          <a:ln w="12700">
            <a:solidFill>
              <a:srgbClr val="3A6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5440680" y="1938528"/>
            <a:ext cx="548640" cy="548640"/>
          </a:xfrm>
          <a:prstGeom prst="ellipse">
            <a:avLst/>
          </a:prstGeom>
          <a:solidFill>
            <a:srgbClr val="85C8E8"/>
          </a:solidFill>
          <a:ln w="12700">
            <a:solidFill>
              <a:srgbClr val="85C8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5440680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846320" y="2606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Simulación guiada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846320" y="3035808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intensiva en simuladores con métricas de rendimiento en tiempo real.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693408" y="3017520"/>
            <a:ext cx="182880" cy="20117"/>
          </a:xfrm>
          <a:prstGeom prst="rect">
            <a:avLst/>
          </a:prstGeom>
          <a:solidFill>
            <a:srgbClr val="85C8E8"/>
          </a:solidFill>
          <a:ln w="12700">
            <a:solidFill>
              <a:srgbClr val="85C8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/>
          <p:nvPr/>
        </p:nvSpPr>
        <p:spPr>
          <a:xfrm>
            <a:off x="6839712" y="29260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903720" y="1828800"/>
            <a:ext cx="1920240" cy="2560320"/>
          </a:xfrm>
          <a:prstGeom prst="rect">
            <a:avLst/>
          </a:prstGeom>
          <a:solidFill>
            <a:srgbClr val="1E4A7A"/>
          </a:solidFill>
          <a:ln w="12700">
            <a:solidFill>
              <a:srgbClr val="3A6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5"/>
          <p:cNvSpPr/>
          <p:nvPr/>
        </p:nvSpPr>
        <p:spPr>
          <a:xfrm>
            <a:off x="7589520" y="1938528"/>
            <a:ext cx="548640" cy="548640"/>
          </a:xfrm>
          <a:prstGeom prst="ellipse">
            <a:avLst/>
          </a:prstGeom>
          <a:solidFill>
            <a:srgbClr val="85C8E8"/>
          </a:solidFill>
          <a:ln w="12700">
            <a:solidFill>
              <a:srgbClr val="85C8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/>
          <p:nvPr/>
        </p:nvSpPr>
        <p:spPr>
          <a:xfrm>
            <a:off x="7589520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6995160" y="2606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Práctica clínica real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995160" y="3035808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 supervisados en quirófano con sistema da Vinci Xi.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37160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5C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"La excelencia quirúrgica se entrena."</a:t>
            </a:r>
            <a:endParaRPr lang="en-US" sz="110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6087ABB6-AA73-A1E8-5D53-D4413FE1EF66}"/>
              </a:ext>
            </a:extLst>
          </p:cNvPr>
          <p:cNvCxnSpPr>
            <a:cxnSpLocks/>
          </p:cNvCxnSpPr>
          <p:nvPr/>
        </p:nvCxnSpPr>
        <p:spPr>
          <a:xfrm>
            <a:off x="895350" y="173736"/>
            <a:ext cx="0" cy="36195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400" dirty="0">
                <a:solidFill>
                  <a:srgbClr val="8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VISUAL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Board</a:t>
            </a:r>
            <a:endParaRPr lang="en-US" sz="26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FF7B926-C22C-F70C-3264-8243E14F37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60"/>
          <a:stretch>
            <a:fillRect/>
          </a:stretch>
        </p:blipFill>
        <p:spPr>
          <a:xfrm>
            <a:off x="3213099" y="960120"/>
            <a:ext cx="2878843" cy="4000500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28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5C">
              <a:alpha val="75000"/>
            </a:srgbClr>
          </a:solidFill>
          <a:ln w="12700">
            <a:solidFill>
              <a:srgbClr val="1A3A5C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4" name="Text 1"/>
          <p:cNvSpPr/>
          <p:nvPr/>
        </p:nvSpPr>
        <p:spPr>
          <a:xfrm>
            <a:off x="914400" y="8229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Únete a la lista de espera.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371600" y="2011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el primero en saber cuándo abrimos. Acceso prioritario y condiciones especiales de lanzamiento.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828800" y="2743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formacion@cfr.es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828800" y="31272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+34 659 87 70 61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828800" y="351129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Madrid, España · 2026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6945" y="4242816"/>
            <a:ext cx="470109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0" y="47365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400" dirty="0">
                <a:solidFill>
                  <a:srgbClr val="94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FORMACIÓN ROBÓTICA</a:t>
            </a:r>
            <a:endParaRPr lang="en-US" sz="7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3815F522-8277-FD4B-E4AE-61486A66CF5C}"/>
              </a:ext>
            </a:extLst>
          </p:cNvPr>
          <p:cNvSpPr/>
          <p:nvPr/>
        </p:nvSpPr>
        <p:spPr>
          <a:xfrm>
            <a:off x="4130041" y="385876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1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Página web CFR</a:t>
            </a:r>
            <a:endParaRPr lang="es-E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440</Words>
  <Application>Microsoft Office PowerPoint</Application>
  <PresentationFormat>Presentación en pantalla (16:9)</PresentationFormat>
  <Paragraphs>96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Centro Formación Robótica</dc:title>
  <dc:subject>PptxGenJS Presentation</dc:subject>
  <dc:creator>PptxGenJS</dc:creator>
  <cp:lastModifiedBy>Daniel Corpas</cp:lastModifiedBy>
  <cp:revision>2</cp:revision>
  <dcterms:created xsi:type="dcterms:W3CDTF">2026-05-14T10:47:12Z</dcterms:created>
  <dcterms:modified xsi:type="dcterms:W3CDTF">2026-05-27T10:41:30Z</dcterms:modified>
</cp:coreProperties>
</file>